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0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621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206240" cy="4206240"/>
          </a:xfrm>
          <a:prstGeom prst="ellipse">
            <a:avLst/>
          </a:prstGeom>
          <a:solidFill>
            <a:srgbClr val="007A2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291840"/>
            <a:ext cx="2377440" cy="2377440"/>
          </a:xfrm>
          <a:prstGeom prst="ellipse">
            <a:avLst/>
          </a:prstGeom>
          <a:solidFill>
            <a:srgbClr val="00B1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A4D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ANALYTICS · МЕГАФОН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FCR и оттока клиентов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Влияет ли качество первого контакта на удержание клиентов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A4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данных: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test_data.xlsx (clients, tickets, churn_log, error_log)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год</a:t>
            </a:r>
            <a:r>
              <a:rPr lang="en-US" sz="1150" dirty="0">
                <a:solidFill>
                  <a:srgbClr val="9A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Автор: </a:t>
            </a:r>
            <a:r>
              <a:rPr lang="ru-RU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Антонов Сергей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 «низкий FCR → отток» не подтвердилась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562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— доля обращений,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решённых с первого контакта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562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B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5786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— отток клиентов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2023 год (2 341 из 149 920)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8562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0.003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0760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FCR и оттока —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тесты дали p &gt; 0.4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4F6F4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691890"/>
            <a:ext cx="251460" cy="2514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3520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мысль.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текущих данных отток не объясняется качеством первого контакта. Проверка на клиентском уровне (t-тест, Mann-Whitney, точечно-бисериальная корреляция, χ²) не выявила статистически значимой связи — искать драйверы оттока нужно в других факторах.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проблем устранены до расчёта метрик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к выводам начинается с прозрачности по данным — до очистки любые метрики были бы искажены.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3218688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Проблема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Масштаб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вариантов написания сегмента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некорректных строк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Нормализация → SMB /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30 320 дублей тикетов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Дубли в ~50% строк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Дедупликация, берём наиболее полную запись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1 727 отрицательных значений времени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 тикетов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в NaN + импутация по статусу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Клиенты с ошибками в системе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client_id из error_log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Полное исключение из всех таблиц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«Сироты» в логе оттока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записей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Удалены (клиента нет в базе)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Невозможные даты оттока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запись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Удалены (отток раньше начала контракта)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Несогласованное окно наблюдения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запись вне 2023 года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Удалена (согласование с окном тикетов)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считаются по прозрачным, защищаемым правилам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973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Определение: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is_first_contact = 1 И статус = Closed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A (основной):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49.8% — от закрытых обращений (9 918 / 19 926)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973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93776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ушедшие клиенты / база клиентов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2 341 / 149 920 = 1.56%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Выравнивание окна (2 шага): </a:t>
            </a:r>
            <a:endParaRPr lang="en-US" sz="1200" dirty="0"/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невозможные даты оттока (раньше контракта) </a:t>
            </a:r>
            <a:endParaRPr lang="ru-RU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согласован с 2023 годом (окном тикетов)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Мегафон · CX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FCR ровный: системных провалов в качестве нет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1A1A1A"/>
          </a:solidFill>
          <a:ln/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A4D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по закрытым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обращениям (основной)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9 918 из 19 926 обращений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по сегментам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425196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4F6F4"/>
          </a:solidFill>
          <a:ln/>
        </p:spPr>
      </p:sp>
      <p:sp>
        <p:nvSpPr>
          <p:cNvPr id="11" name="Text 8"/>
          <p:cNvSpPr/>
          <p:nvPr/>
        </p:nvSpPr>
        <p:spPr>
          <a:xfrm>
            <a:off x="370332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сегментами — 1.8 п.п., в пределах нормальных колебаний. Системных провалов качества по сегментам не выявлено.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737D65-1816-9AFB-D7AA-9F2BEC584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07"/>
          <a:stretch/>
        </p:blipFill>
        <p:spPr>
          <a:xfrm>
            <a:off x="4046220" y="1920240"/>
            <a:ext cx="3977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Причины оттока распределены равномерно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B2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92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Rate, 2023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7066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603 млн 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упущенная выручка / мес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30752"/>
            <a:ext cx="2331720" cy="932688"/>
          </a:xfrm>
          <a:prstGeom prst="roundRect">
            <a:avLst>
              <a:gd name="adj" fmla="val 7843"/>
            </a:avLst>
          </a:prstGeom>
          <a:solidFill>
            <a:srgbClr val="F4F6F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8561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Доминирующего фактора ухода не выявлено — 5 причин по ~20%, «Unknown» — 20% (слепая зона).</a:t>
            </a:r>
            <a:endParaRPr lang="en-US" sz="1000" dirty="0"/>
          </a:p>
        </p:txBody>
      </p:sp>
      <p:pic>
        <p:nvPicPr>
          <p:cNvPr id="13" name="Image 0" descr="Причины отток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508760"/>
            <a:ext cx="5120640" cy="29702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3108960" cy="3108960"/>
          </a:xfrm>
          <a:prstGeom prst="ellipse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4D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ГИПОТЕЗА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Связи между FCR и оттоком нет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259967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pic>
        <p:nvPicPr>
          <p:cNvPr id="6" name="Image 0" descr="CR решено vs не решено с первого контакт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3749040" cy="23253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4D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Статистические тесты (клиентский уровень)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83080"/>
          <a:ext cx="393192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6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6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0.55, p = 0.585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Mann-Whitney 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= 6 711 880, p = 0.581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Точечно-бисериальная корр.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0.003, p = 0.581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(группы FCR × отток)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0.25, p = 0.616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A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09160" y="379476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007A2F"/>
          </a:solidFill>
          <a:ln/>
        </p:spPr>
      </p:sp>
      <p:sp>
        <p:nvSpPr>
          <p:cNvPr id="10" name="Text 6"/>
          <p:cNvSpPr/>
          <p:nvPr/>
        </p:nvSpPr>
        <p:spPr>
          <a:xfrm>
            <a:off x="4892040" y="3794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Вердикт: r = 0.003, все p &gt; 0.4 — статистически значимой связи не обнаружено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Отрицательный результат — тоже результат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4F6F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синтетики данных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1 тикет на клиента — в реальности обращений больше и они повторяются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Churn Rate по сегментам (1.56% / 1.56%)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Равномерное распределение причин оттока (~20% каждая)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37360"/>
            <a:ext cx="457200" cy="45720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516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64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B2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Корреляция ≠ причинность.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связи в этих данных не доказывает её отсутствие в реальности.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валидна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построена так, чтобы на реальных данных корректно выявить связь, если она есть. Инфраструктура анализа (очистка, метрики, тесты) готова к продакшену.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ЕЩЁ ПРОВЕРИЛ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revenue, </a:t>
            </a:r>
            <a:r>
              <a:rPr lang="en-US" sz="2100" b="1" dirty="0" err="1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</a:t>
            </a: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ru-RU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когорты</a:t>
            </a: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ни поддержка не предсказывают отток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81912"/>
            <a:ext cx="365760" cy="36576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7335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8191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Revenue-профиль</a:t>
            </a:r>
            <a:endParaRPr lang="en-US" sz="1250" dirty="0"/>
          </a:p>
        </p:txBody>
      </p:sp>
      <p:pic>
        <p:nvPicPr>
          <p:cNvPr id="8" name="Image 1" descr="revenue профиль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39112"/>
            <a:ext cx="2350008" cy="829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005289"/>
            <a:ext cx="2350008" cy="1548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Плоский профиль по децилям — ценность клиента не предиктор оттока (медианы p=0.374, не значимо)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10128" y="141732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0" y="1581912"/>
            <a:ext cx="365760" cy="36576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673352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158191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25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огорты</a:t>
            </a:r>
            <a:endParaRPr lang="en-US" sz="1250" dirty="0"/>
          </a:p>
        </p:txBody>
      </p:sp>
      <p:pic>
        <p:nvPicPr>
          <p:cNvPr id="14" name="Image 3" descr="Time-to-churn и Когорты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288" y="2039112"/>
            <a:ext cx="2350008" cy="8290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47288" y="3005289"/>
            <a:ext cx="2350008" cy="1548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до ухода — 480 дней; 8.9% — ранний отток (&lt; 90 дней)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071616" y="1417320"/>
            <a:ext cx="2624328" cy="324612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1E6E1"/>
            </a:solidFill>
            <a:prstDash val="solid"/>
          </a:ln>
          <a:effectLst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236208" y="1581912"/>
            <a:ext cx="365760" cy="365760"/>
          </a:xfrm>
          <a:prstGeom prst="ellipse">
            <a:avLst/>
          </a:prstGeom>
          <a:solidFill>
            <a:srgbClr val="F4F6F4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1673352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93408" y="158191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поддержки</a:t>
            </a:r>
            <a:endParaRPr lang="en-US" sz="1250" dirty="0"/>
          </a:p>
        </p:txBody>
      </p:sp>
      <p:pic>
        <p:nvPicPr>
          <p:cNvPr id="20" name="Image 5" descr="Качество поддержки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2039112"/>
            <a:ext cx="2350008" cy="72421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08776" y="2900488"/>
            <a:ext cx="2350008" cy="165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сигнала по времени решения и статусу тикета; 16.4% ушли в течение 30 дней после обращения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5588" y="3296413"/>
            <a:ext cx="3840480" cy="3840480"/>
          </a:xfrm>
          <a:prstGeom prst="ellipse">
            <a:avLst/>
          </a:prstGeom>
          <a:solidFill>
            <a:srgbClr val="007A2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искать реальные драйверы оттока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242A2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155905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Повторные обращения (рецидив проблемы) — ключевой предиктор на реальных данных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384048" cy="384048"/>
          </a:xfrm>
          <a:prstGeom prst="ellipse">
            <a:avLst/>
          </a:prstGeom>
          <a:solidFill>
            <a:srgbClr val="242A2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2125980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0299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отток &lt; 90 дней (8.9%) — проверить качество onboarding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242A2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" y="2692908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968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 «тикет → отток» 30 дней — проверить статус обращения на момент ухода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163824"/>
            <a:ext cx="384048" cy="384048"/>
          </a:xfrm>
          <a:prstGeom prst="ellipse">
            <a:avLst/>
          </a:prstGeom>
          <a:solidFill>
            <a:srgbClr val="242A2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" y="3259836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1638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«Unknown» (20%) — обогатить данными NPS / CSAT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0" y="146304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242A25"/>
          </a:solidFill>
          <a:ln/>
        </p:spPr>
      </p:sp>
      <p:sp>
        <p:nvSpPr>
          <p:cNvPr id="18" name="Shape 12"/>
          <p:cNvSpPr/>
          <p:nvPr/>
        </p:nvSpPr>
        <p:spPr>
          <a:xfrm>
            <a:off x="5760720" y="1691640"/>
            <a:ext cx="411480" cy="411480"/>
          </a:xfrm>
          <a:prstGeom prst="ellipse">
            <a:avLst/>
          </a:prstGeom>
          <a:solidFill>
            <a:srgbClr val="007A2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3590" y="1794510"/>
            <a:ext cx="205740" cy="2057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0936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4D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для проверки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760720" y="2286000"/>
            <a:ext cx="260604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с &gt;1 обращением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взаимодействий по клиенту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4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NPS / CSAT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54964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782</Words>
  <Application>Microsoft Macintosh PowerPoint</Application>
  <PresentationFormat>Экран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FCR и оттока клиентов</dc:title>
  <dc:subject>PptxGenJS Presentation</dc:subject>
  <dc:creator>Сергей</dc:creator>
  <cp:lastModifiedBy>Сергей Антонов</cp:lastModifiedBy>
  <cp:revision>2</cp:revision>
  <dcterms:created xsi:type="dcterms:W3CDTF">2026-07-03T08:16:28Z</dcterms:created>
  <dcterms:modified xsi:type="dcterms:W3CDTF">2026-07-03T08:55:23Z</dcterms:modified>
</cp:coreProperties>
</file>